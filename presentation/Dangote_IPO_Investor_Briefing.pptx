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384048"/>
            <a:ext cx="502920" cy="502920"/>
          </a:xfrm>
          <a:prstGeom prst="ellipse">
            <a:avLst/>
          </a:prstGeom>
          <a:noFill/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48056"/>
            <a:ext cx="41148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 dirty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464040" y="621792"/>
            <a:ext cx="2194560" cy="0"/>
          </a:xfrm>
          <a:prstGeom prst="line">
            <a:avLst/>
          </a:prstGeom>
          <a:ln w="1524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3000" y="1874519"/>
            <a:ext cx="990295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0" i="0">
                <a:solidFill>
                  <a:srgbClr val="C9A961"/>
                </a:solidFill>
                <a:latin typeface="Georgia"/>
              </a:rPr>
              <a:t>DANGOTE PETROLEUM REFINERY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87168"/>
            <a:ext cx="1028700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4200" b="1" i="0">
                <a:solidFill>
                  <a:srgbClr val="F5F7FA"/>
                </a:solidFill>
                <a:latin typeface="Georgia"/>
              </a:rPr>
              <a:t>IPO INVESTOR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64992"/>
            <a:ext cx="1014984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0" i="0">
                <a:solidFill>
                  <a:srgbClr val="8FA3B8"/>
                </a:solidFill>
                <a:latin typeface="Aptos"/>
              </a:rPr>
              <a:t>₦525 per share  |  NGX Main Board  |  14 Sep – 13 Oct 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3913632"/>
            <a:ext cx="2770632" cy="0"/>
          </a:xfrm>
          <a:prstGeom prst="line">
            <a:avLst/>
          </a:prstGeom>
          <a:ln w="1397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11680" y="4206240"/>
            <a:ext cx="8138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Georgia"/>
              </a:rPr>
              <a:t>Prepared by Chukwuka Odey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517136"/>
            <a:ext cx="8138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  <a:latin typeface="Georgia"/>
              </a:rPr>
              <a:t>linkedin.com/in/chukwuka-odey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828032"/>
            <a:ext cx="8138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  <a:latin typeface="Georgia"/>
              </a:rPr>
              <a:t>chukwukaodey@gmail.com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6355080"/>
            <a:ext cx="813816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0" i="0">
                <a:solidFill>
                  <a:srgbClr val="8FA3B8"/>
                </a:solidFill>
                <a:latin typeface="Aptos"/>
              </a:rPr>
              <a:t>Educational analysis only. Not investment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500" b="1" i="0">
                <a:solidFill>
                  <a:srgbClr val="F5F7FA"/>
                </a:solidFill>
                <a:latin typeface="Georgia"/>
              </a:rPr>
              <a:t>THE OFFER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288036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Aptos"/>
              </a:rPr>
              <a:t>OFFER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81328"/>
            <a:ext cx="777240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Aptos"/>
              </a:rPr>
              <a:t>₦525.00 per share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1965960"/>
            <a:ext cx="1065276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1965960"/>
            <a:ext cx="288036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Aptos"/>
              </a:rPr>
              <a:t>SHARES OFFERED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777240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Aptos"/>
              </a:rPr>
              <a:t>4.1 billion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450592"/>
            <a:ext cx="1065276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450592"/>
            <a:ext cx="288036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Aptos"/>
              </a:rPr>
              <a:t>OFFER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50592"/>
            <a:ext cx="777240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Aptos"/>
              </a:rPr>
              <a:t>₦2.15 trillion (approx. $1.50bn equivalent)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2935224"/>
            <a:ext cx="1065276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2935224"/>
            <a:ext cx="288036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Aptos"/>
              </a:rPr>
              <a:t>MINIMUM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35224"/>
            <a:ext cx="777240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Aptos"/>
              </a:rPr>
              <a:t>10 shares (₦5,250)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3419856"/>
            <a:ext cx="1065276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419856"/>
            <a:ext cx="288036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Aptos"/>
              </a:rPr>
              <a:t>USE OF PROCEEDS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419856"/>
            <a:ext cx="777240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Aptos"/>
              </a:rPr>
              <a:t>Phase 2 expansion to 1.4m bpd by 2029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3904488"/>
            <a:ext cx="1065276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3904488"/>
            <a:ext cx="288036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Aptos"/>
              </a:rPr>
              <a:t>LISTING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904488"/>
            <a:ext cx="7772400" cy="4846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Aptos"/>
              </a:rPr>
              <a:t>NGX Main 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09160"/>
            <a:ext cx="10972800" cy="100584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4709160"/>
            <a:ext cx="82296" cy="1005840"/>
          </a:xfrm>
          <a:prstGeom prst="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28700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0" i="1">
                <a:solidFill>
                  <a:srgbClr val="F5F7FA"/>
                </a:solidFill>
                <a:latin typeface="Georgia"/>
              </a:rPr>
              <a:t>“Nigeria’s largest IPO. The refinery that reshaped the downstream sector is now open to public investors.”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565392"/>
            <a:ext cx="7680960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0">
                <a:solidFill>
                  <a:srgbClr val="8FA3B8"/>
                </a:solidFill>
                <a:latin typeface="Aptos"/>
              </a:rPr>
              <a:t>Source: IPO Prospectus, pp. 1, 34.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565392"/>
            <a:ext cx="3493008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0" i="0">
                <a:solidFill>
                  <a:srgbClr val="8FA3B8"/>
                </a:solidFill>
                <a:latin typeface="Aptos"/>
              </a:rPr>
              <a:t>EDUCATIONAL ANALYSIS ONLY • NOT INVESTMENT ADVICE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400" b="1" i="0">
                <a:solidFill>
                  <a:srgbClr val="F5F7FA"/>
                </a:solidFill>
                <a:latin typeface="Georgia"/>
              </a:rPr>
              <a:t>FROM A ₦2.23tn LOSS TO A ₦2.50tn PROFIT IN 18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109728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1">
                <a:solidFill>
                  <a:srgbClr val="8FA3B8"/>
                </a:solidFill>
                <a:latin typeface="Aptos"/>
              </a:rPr>
              <a:t>Profit After Tax, audited figures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19" y="3536021"/>
            <a:ext cx="10012681" cy="0"/>
          </a:xfrm>
          <a:prstGeom prst="line">
            <a:avLst/>
          </a:prstGeom>
          <a:ln w="10160">
            <a:solidFill>
              <a:srgbClr val="8F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756562" y="3345408"/>
            <a:ext cx="1283817" cy="190612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27962" y="3089376"/>
            <a:ext cx="1741017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Aptos"/>
              </a:rPr>
              <a:t>+₦0.29tn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5074920"/>
            <a:ext cx="2468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8FA3B8"/>
                </a:solidFill>
                <a:latin typeface="Aptos"/>
              </a:rPr>
              <a:t>FY 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5442" y="3536021"/>
            <a:ext cx="1283817" cy="1465746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96842" y="4928616"/>
            <a:ext cx="1741017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Aptos"/>
              </a:rPr>
              <a:t>−₦2.23tn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074920"/>
            <a:ext cx="2468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8FA3B8"/>
                </a:solidFill>
                <a:latin typeface="Aptos"/>
              </a:rPr>
              <a:t>FY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4322" y="3536021"/>
            <a:ext cx="1283817" cy="473245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5722" y="4018411"/>
            <a:ext cx="1741017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Aptos"/>
              </a:rPr>
              <a:t>−₦0.72tn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2468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8FA3B8"/>
                </a:solidFill>
                <a:latin typeface="Aptos"/>
              </a:rPr>
              <a:t>FY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63202" y="1892808"/>
            <a:ext cx="1283817" cy="1643213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34602" y="1874520"/>
            <a:ext cx="1741017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Aptos"/>
              </a:rPr>
              <a:t>+₦2.50tn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074920"/>
            <a:ext cx="246888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8FA3B8"/>
                </a:solidFill>
                <a:latin typeface="Aptos"/>
              </a:rPr>
              <a:t>H1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25312"/>
            <a:ext cx="1033272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0" i="1">
                <a:solidFill>
                  <a:srgbClr val="F5F7FA"/>
                </a:solidFill>
                <a:latin typeface="Georgia"/>
              </a:rPr>
              <a:t>H1 2026 revenue alone (₦19.13tn) exceeded all of FY 2025.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565392"/>
            <a:ext cx="7680960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0">
                <a:solidFill>
                  <a:srgbClr val="8FA3B8"/>
                </a:solidFill>
                <a:latin typeface="Aptos"/>
              </a:rPr>
              <a:t>Source: IPO Prospectus, p. 76 (Audited Financial Statements).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565392"/>
            <a:ext cx="3493008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0" i="0">
                <a:solidFill>
                  <a:srgbClr val="8FA3B8"/>
                </a:solidFill>
                <a:latin typeface="Aptos"/>
              </a:rPr>
              <a:t>EDUCATIONAL ANALYSIS ONLY • NOT INVESTMENT ADVICE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500" b="1" i="0">
                <a:solidFill>
                  <a:srgbClr val="F5F7FA"/>
                </a:solidFill>
                <a:latin typeface="Georgia"/>
              </a:rPr>
              <a:t>FIVE FORCES DROVE THE SWING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2062886" cy="434340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184343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C9A961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1806854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Aptos"/>
              </a:rPr>
              <a:t>FULL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456432"/>
            <a:ext cx="1733702" cy="12344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8FA3B8"/>
                </a:solidFill>
                <a:latin typeface="Aptos"/>
              </a:rPr>
              <a:t>March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0982" y="1600200"/>
            <a:ext cx="2062886" cy="434340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0710" y="1828800"/>
            <a:ext cx="184343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C9A961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8998" y="2606040"/>
            <a:ext cx="1806854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Aptos"/>
              </a:rPr>
              <a:t>DEBT CUT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5574" y="3456432"/>
            <a:ext cx="1733702" cy="12344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8FA3B8"/>
                </a:solidFill>
                <a:latin typeface="Aptos"/>
              </a:rPr>
              <a:t>Net debt down from
₦7.48tn to ₦1.93tn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8460" y="1600200"/>
            <a:ext cx="2062886" cy="434340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8188" y="1828800"/>
            <a:ext cx="184343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C9A961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6476" y="2606040"/>
            <a:ext cx="1806854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Aptos"/>
              </a:rPr>
              <a:t>MARGINS EXPANDED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3052" y="3456432"/>
            <a:ext cx="1733702" cy="12344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8FA3B8"/>
                </a:solidFill>
                <a:latin typeface="Aptos"/>
              </a:rPr>
              <a:t>GRM from $13.70
to $24.50/bbl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5939" y="1600200"/>
            <a:ext cx="2062886" cy="434340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95667" y="1828800"/>
            <a:ext cx="184343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C9A961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3955" y="2606040"/>
            <a:ext cx="1806854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Aptos"/>
              </a:rPr>
              <a:t>TAX EXEMPT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0531" y="3456432"/>
            <a:ext cx="1733702" cy="12344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8FA3B8"/>
                </a:solidFill>
                <a:latin typeface="Aptos"/>
              </a:rPr>
              <a:t>Zero tax under
Free Zone framework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13417" y="1600200"/>
            <a:ext cx="2062886" cy="434340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23145" y="1828800"/>
            <a:ext cx="184343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C9A961"/>
                </a:solidFill>
                <a:latin typeface="Georg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1433" y="2606040"/>
            <a:ext cx="1806854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Aptos"/>
              </a:rPr>
              <a:t>MARKET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8009" y="3456432"/>
            <a:ext cx="1733702" cy="12344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8FA3B8"/>
                </a:solidFill>
                <a:latin typeface="Aptos"/>
              </a:rPr>
              <a:t>80.8% of Nigeria’s
domestic PMS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565392"/>
            <a:ext cx="7680960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0">
                <a:solidFill>
                  <a:srgbClr val="8FA3B8"/>
                </a:solidFill>
                <a:latin typeface="Aptos"/>
              </a:rPr>
              <a:t>Source: IPO Prospectus, pp. 75–80.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565392"/>
            <a:ext cx="3493008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0" i="0">
                <a:solidFill>
                  <a:srgbClr val="8FA3B8"/>
                </a:solidFill>
                <a:latin typeface="Aptos"/>
              </a:rPr>
              <a:t>EDUCATIONAL ANALYSIS ONLY • NOT INVESTMENT ADVICE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500" b="1" i="0">
                <a:solidFill>
                  <a:srgbClr val="F5F7FA"/>
                </a:solidFill>
                <a:latin typeface="Georgia"/>
              </a:rPr>
              <a:t>AT ₦525, DANGOTE TRADES AT 9.38x EV/EBITDA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109728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1">
                <a:solidFill>
                  <a:srgbClr val="8FA3B8"/>
                </a:solidFill>
                <a:latin typeface="Aptos"/>
              </a:rPr>
              <a:t>A 95.9% premium to pure-play peers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99032"/>
            <a:ext cx="3429000" cy="438912"/>
          </a:xfrm>
          <a:prstGeom prst="roundRect">
            <a:avLst/>
          </a:prstGeom>
          <a:solidFill>
            <a:srgbClr val="1A1F26"/>
          </a:solidFill>
          <a:ln w="889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444752"/>
            <a:ext cx="324612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Aptos"/>
              </a:rPr>
              <a:t>+95.9% PREMIUM VS PURE-PLAY PEERS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1965960" cy="6949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Dangote Refinery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080077"/>
            <a:ext cx="7012550" cy="375269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56334" y="2010582"/>
            <a:ext cx="731520" cy="50035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Aptos"/>
              </a:rPr>
              <a:t>9.38x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15184"/>
            <a:ext cx="1965960" cy="6949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Valero Energy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775021"/>
            <a:ext cx="6354656" cy="375269"/>
          </a:xfrm>
          <a:prstGeom prst="rect">
            <a:avLst/>
          </a:prstGeom>
          <a:solidFill>
            <a:srgbClr val="8F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98440" y="2705526"/>
            <a:ext cx="731520" cy="50035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Aptos"/>
              </a:rPr>
              <a:t>8.50x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10128"/>
            <a:ext cx="1965960" cy="6949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Marathon Petroleum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3469965"/>
            <a:ext cx="6137850" cy="375269"/>
          </a:xfrm>
          <a:prstGeom prst="rect">
            <a:avLst/>
          </a:prstGeom>
          <a:solidFill>
            <a:srgbClr val="8F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81634" y="3400470"/>
            <a:ext cx="731520" cy="50035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Aptos"/>
              </a:rPr>
              <a:t>8.21x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05072"/>
            <a:ext cx="1965960" cy="6949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Businessday Broad Median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4164909"/>
            <a:ext cx="5622002" cy="375269"/>
          </a:xfrm>
          <a:prstGeom prst="rect">
            <a:avLst/>
          </a:prstGeom>
          <a:solidFill>
            <a:srgbClr val="8F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65786" y="4095414"/>
            <a:ext cx="731520" cy="50035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Aptos"/>
              </a:rPr>
              <a:t>7.52x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00016"/>
            <a:ext cx="1965960" cy="6949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GTI Peer Median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4859853"/>
            <a:ext cx="3581035" cy="375269"/>
          </a:xfrm>
          <a:prstGeom prst="rect">
            <a:avLst/>
          </a:prstGeom>
          <a:solidFill>
            <a:srgbClr val="8F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4819" y="4790358"/>
            <a:ext cx="731520" cy="50035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Aptos"/>
              </a:rPr>
              <a:t>4.79x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565392"/>
            <a:ext cx="7680960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0">
                <a:solidFill>
                  <a:srgbClr val="8FA3B8"/>
                </a:solidFill>
                <a:latin typeface="Aptos"/>
              </a:rPr>
              <a:t>Sources: Prospectus; GTI Research; Businessday.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565392"/>
            <a:ext cx="3493008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0" i="0">
                <a:solidFill>
                  <a:srgbClr val="8FA3B8"/>
                </a:solidFill>
                <a:latin typeface="Aptos"/>
              </a:rPr>
              <a:t>EDUCATIONAL ANALYSIS ONLY • NOT INVESTMENT ADVICE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500" b="1" i="0">
                <a:solidFill>
                  <a:srgbClr val="F5F7FA"/>
                </a:solidFill>
                <a:latin typeface="Georgia"/>
              </a:rPr>
              <a:t>WHY THE PREMIUM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109728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1">
                <a:solidFill>
                  <a:srgbClr val="8FA3B8"/>
                </a:solidFill>
                <a:latin typeface="Aptos"/>
              </a:rPr>
              <a:t>Dangote is structurally different from every comparison company.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21945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Aptos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1417320"/>
            <a:ext cx="8549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Aptos"/>
              </a:rPr>
              <a:t>700,000 bpd — world’s largest single-train refinery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1920240"/>
            <a:ext cx="1074420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" y="1920240"/>
            <a:ext cx="21945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Aptos"/>
              </a:rPr>
              <a:t>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920240"/>
            <a:ext cx="8549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Aptos"/>
              </a:rPr>
              <a:t>NCI 11.5 — high conversion, above peer average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423160"/>
            <a:ext cx="1074420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2423160"/>
            <a:ext cx="21945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Aptos"/>
              </a:rPr>
              <a:t>LOW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423160"/>
            <a:ext cx="8549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Aptos"/>
              </a:rPr>
              <a:t>Under $3/bbl cash operating cost — among the lowest globally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2926080"/>
            <a:ext cx="1074420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2926080"/>
            <a:ext cx="21945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Aptos"/>
              </a:rPr>
              <a:t>MARKET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926080"/>
            <a:ext cx="8549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Aptos"/>
              </a:rPr>
              <a:t>80.8% of Nigeria’s domestic PMS supply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" y="3429000"/>
            <a:ext cx="1074420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8" y="3429000"/>
            <a:ext cx="21945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Aptos"/>
              </a:rPr>
              <a:t>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3429000"/>
            <a:ext cx="8549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Aptos"/>
              </a:rPr>
              <a:t>Phase 2 doubling to 1.4m bpd by 2029 ($12.4bn programme)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3931920"/>
            <a:ext cx="1074420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9808" y="3931920"/>
            <a:ext cx="21945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Aptos"/>
              </a:rPr>
              <a:t>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3931920"/>
            <a:ext cx="8549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Aptos"/>
              </a:rPr>
              <a:t>Refinery + 3.0 mtpa urea fertiliser + petrochemicals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892040"/>
            <a:ext cx="10972800" cy="86868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892040"/>
            <a:ext cx="82296" cy="868680"/>
          </a:xfrm>
          <a:prstGeom prst="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010912"/>
            <a:ext cx="1028700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1">
                <a:solidFill>
                  <a:srgbClr val="F5F7FA"/>
                </a:solidFill>
                <a:latin typeface="Georgia"/>
              </a:rPr>
              <a:t>“No peer is doing any of this at the same scale. The premium reflects growth — not just current earnings.”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6565392"/>
            <a:ext cx="7680960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0">
                <a:solidFill>
                  <a:srgbClr val="8FA3B8"/>
                </a:solidFill>
                <a:latin typeface="Aptos"/>
              </a:rPr>
              <a:t>Source: IPO Prospectus, pp. 15, 34, 80, 104.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565392"/>
            <a:ext cx="3493008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0" i="0">
                <a:solidFill>
                  <a:srgbClr val="8FA3B8"/>
                </a:solidFill>
                <a:latin typeface="Aptos"/>
              </a:rPr>
              <a:t>EDUCATIONAL ANALYSIS ONLY • NOT INVESTMENT ADVICE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400" b="1" i="0">
                <a:solidFill>
                  <a:srgbClr val="F5F7FA"/>
                </a:solidFill>
                <a:latin typeface="Georgia"/>
              </a:rPr>
              <a:t>TWO CREDIBLE VIEWS. TWO OPPOSITE CONCLUSIONS.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89888"/>
            <a:ext cx="1965960" cy="7162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GTI Research (weighted)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554632"/>
            <a:ext cx="5178259" cy="386791"/>
          </a:xfrm>
          <a:prstGeom prst="rect">
            <a:avLst/>
          </a:prstGeom>
          <a:solidFill>
            <a:srgbClr val="8F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0331" y="1483004"/>
            <a:ext cx="731520" cy="51572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Aptos"/>
              </a:rPr>
              <a:t>₦493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06168"/>
            <a:ext cx="1965960" cy="7162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IPO Offer 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7208" y="2270912"/>
            <a:ext cx="5514373" cy="386791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6445" y="2199284"/>
            <a:ext cx="731520" cy="51572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Aptos"/>
              </a:rPr>
              <a:t>₦525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822448"/>
            <a:ext cx="1965960" cy="7162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CardinalStone (12-month)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7208" y="2987192"/>
            <a:ext cx="7226455" cy="386791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88527" y="2915564"/>
            <a:ext cx="731520" cy="51572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Aptos"/>
              </a:rPr>
              <a:t>₦688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074920" cy="96012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8F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794760"/>
            <a:ext cx="470916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Aptos"/>
              </a:rPr>
              <a:t>GTI: probability-weighted fair value ₦493; base case ₦503 — below offer. Rating: FULLY VALUED.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03320"/>
            <a:ext cx="5166360" cy="96012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00D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480060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Aptos"/>
              </a:rPr>
              <a:t>CardinalStone: ₦688 12-month target; +31.1% capital upside and reported 8.5% dividend yield.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10912"/>
            <a:ext cx="106984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0" i="1">
                <a:solidFill>
                  <a:srgbClr val="C9A961"/>
                </a:solidFill>
                <a:latin typeface="Georgia"/>
              </a:rPr>
              <a:t>The disagreement may reflect different assumptions about Phase 2 execution, earnings, and valuation methods.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65392"/>
            <a:ext cx="7680960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0">
                <a:solidFill>
                  <a:srgbClr val="8FA3B8"/>
                </a:solidFill>
                <a:latin typeface="Aptos"/>
              </a:rPr>
              <a:t>Sources: GTI Research; CardinalStone Research (confirm exact report dates/figures).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6565392"/>
            <a:ext cx="3493008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0" i="0">
                <a:solidFill>
                  <a:srgbClr val="8FA3B8"/>
                </a:solidFill>
                <a:latin typeface="Aptos"/>
              </a:rPr>
              <a:t>EDUCATIONAL ANALYSIS ONLY • NOT INVESTMENT ADVICE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100" b="1" i="0">
                <a:solidFill>
                  <a:srgbClr val="F5F7FA"/>
                </a:solidFill>
                <a:latin typeface="Georgia"/>
              </a:rPr>
              <a:t>THE MINIMUM ENTRY IS A TICKET TO PARTICIPATE — NOT A TICKET TO 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572768"/>
            <a:ext cx="2619756" cy="182880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755648"/>
            <a:ext cx="243687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Aptos"/>
              </a:rPr>
              <a:t>MINIMUM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12848"/>
            <a:ext cx="2436876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 i="0">
                <a:solidFill>
                  <a:srgbClr val="F5F7FA"/>
                </a:solidFill>
                <a:latin typeface="Aptos"/>
              </a:rPr>
              <a:t>₦5,250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852928"/>
            <a:ext cx="243687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8FA3B8"/>
                </a:solidFill>
                <a:latin typeface="Aptos"/>
              </a:rPr>
              <a:t>10 shares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7852" y="1572768"/>
            <a:ext cx="2619756" cy="182880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9292" y="1755648"/>
            <a:ext cx="243687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Aptos"/>
              </a:rPr>
              <a:t>ROUND-TRIP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9292" y="2212848"/>
            <a:ext cx="2436876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 i="0">
                <a:solidFill>
                  <a:srgbClr val="F5F7FA"/>
                </a:solidFill>
                <a:latin typeface="Aptos"/>
              </a:rPr>
              <a:t>4.4%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9292" y="2852928"/>
            <a:ext cx="243687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8FA3B8"/>
                </a:solidFill>
                <a:latin typeface="Aptos"/>
              </a:rPr>
              <a:t>assumption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72768"/>
            <a:ext cx="2619756" cy="182880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755648"/>
            <a:ext cx="243687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Aptos"/>
              </a:rPr>
              <a:t>BREAK-EVEN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12848"/>
            <a:ext cx="2436876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 i="0">
                <a:solidFill>
                  <a:srgbClr val="C9A961"/>
                </a:solidFill>
                <a:latin typeface="Aptos"/>
              </a:rPr>
              <a:t>₦548.58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852928"/>
            <a:ext cx="243687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8FA3B8"/>
                </a:solidFill>
                <a:latin typeface="Aptos"/>
              </a:rPr>
              <a:t>estimated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6548" y="1572768"/>
            <a:ext cx="2619756" cy="1828800"/>
          </a:xfrm>
          <a:prstGeom prst="roundRect">
            <a:avLst/>
          </a:prstGeom>
          <a:solidFill>
            <a:srgbClr val="1A1F26"/>
          </a:solidFill>
          <a:ln w="1016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47988" y="1755648"/>
            <a:ext cx="243687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Aptos"/>
              </a:rPr>
              <a:t>REQUIRED MOVE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7988" y="2212848"/>
            <a:ext cx="2436876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 i="0">
                <a:solidFill>
                  <a:srgbClr val="FF3B5C"/>
                </a:solidFill>
                <a:latin typeface="Aptos"/>
              </a:rPr>
              <a:t>+4.49%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7988" y="2852928"/>
            <a:ext cx="243687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8FA3B8"/>
                </a:solidFill>
                <a:latin typeface="Aptos"/>
              </a:rPr>
              <a:t>to break even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913632"/>
            <a:ext cx="10972800" cy="123444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913632"/>
            <a:ext cx="82296" cy="1234440"/>
          </a:xfrm>
          <a:prstGeom prst="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096512"/>
            <a:ext cx="1028700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0" i="1">
                <a:solidFill>
                  <a:srgbClr val="F5F7FA"/>
                </a:solidFill>
                <a:latin typeface="Georgia"/>
              </a:rPr>
              <a:t>“To make ₦10,000 profit at a ₦700 exit, you need ₦36,498 — not ₦5,250.”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565392"/>
            <a:ext cx="7680960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0">
                <a:solidFill>
                  <a:srgbClr val="8FA3B8"/>
                </a:solidFill>
                <a:latin typeface="Aptos"/>
              </a:rPr>
              <a:t>Source: IPO terms; NGX transaction-cost assumptions (verify schedule and calculation).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565392"/>
            <a:ext cx="3493008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0" i="0">
                <a:solidFill>
                  <a:srgbClr val="8FA3B8"/>
                </a:solidFill>
                <a:latin typeface="Aptos"/>
              </a:rPr>
              <a:t>EDUCATIONAL ANALYSIS ONLY • NOT INVESTMENT ADVICE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300" b="1" i="0">
                <a:solidFill>
                  <a:srgbClr val="F5F7FA"/>
                </a:solidFill>
                <a:latin typeface="Georgia"/>
              </a:rPr>
              <a:t>HOW MUCH YOU NEED TO INVEST FOR A TARGET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109728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1">
                <a:solidFill>
                  <a:srgbClr val="8FA3B8"/>
                </a:solidFill>
                <a:latin typeface="Aptos"/>
              </a:rPr>
              <a:t>Illustrative estimates after assumed 4.4% round-trip costs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2057400" cy="658368"/>
          </a:xfrm>
          <a:prstGeom prst="roundRect">
            <a:avLst/>
          </a:prstGeom>
          <a:solidFill>
            <a:srgbClr val="1A1F26"/>
          </a:solidFill>
          <a:ln w="889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636776"/>
            <a:ext cx="1984248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Aptos"/>
              </a:rPr>
              <a:t>TARGET PROFIT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4" y="1600200"/>
            <a:ext cx="2148840" cy="658368"/>
          </a:xfrm>
          <a:prstGeom prst="roundRect">
            <a:avLst/>
          </a:prstGeom>
          <a:solidFill>
            <a:srgbClr val="1A1F26"/>
          </a:solidFill>
          <a:ln w="889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1636776"/>
            <a:ext cx="2075688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Aptos"/>
              </a:rPr>
              <a:t>₦700 EXIT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1768" y="1600200"/>
            <a:ext cx="2148840" cy="658368"/>
          </a:xfrm>
          <a:prstGeom prst="roundRect">
            <a:avLst/>
          </a:prstGeom>
          <a:solidFill>
            <a:srgbClr val="1A1F26"/>
          </a:solidFill>
          <a:ln w="889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38344" y="1636776"/>
            <a:ext cx="2075688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Aptos"/>
              </a:rPr>
              <a:t>₦1,000 EXIT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72" y="1600200"/>
            <a:ext cx="2148840" cy="658368"/>
          </a:xfrm>
          <a:prstGeom prst="roundRect">
            <a:avLst/>
          </a:prstGeom>
          <a:solidFill>
            <a:srgbClr val="1A1F26"/>
          </a:solidFill>
          <a:ln w="889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42048" y="1636776"/>
            <a:ext cx="2075688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Aptos"/>
              </a:rPr>
              <a:t>₦1,500 EXIT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9176" y="1600200"/>
            <a:ext cx="2148840" cy="658368"/>
          </a:xfrm>
          <a:prstGeom prst="roundRect">
            <a:avLst/>
          </a:prstGeom>
          <a:solidFill>
            <a:srgbClr val="1A1F26"/>
          </a:solidFill>
          <a:ln w="889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45752" y="1636776"/>
            <a:ext cx="2075688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C9A961"/>
                </a:solidFill>
                <a:latin typeface="Aptos"/>
              </a:rPr>
              <a:t>₦2,000 EXIT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331720"/>
            <a:ext cx="2057400" cy="658368"/>
          </a:xfrm>
          <a:prstGeom prst="roundRect">
            <a:avLst/>
          </a:prstGeom>
          <a:solidFill>
            <a:srgbClr val="C9A961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2359151"/>
            <a:ext cx="200253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₦5,000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98064" y="2331720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25496" y="2359151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₦18,249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1768" y="2331720"/>
            <a:ext cx="2148840" cy="658368"/>
          </a:xfrm>
          <a:prstGeom prst="roundRect">
            <a:avLst/>
          </a:prstGeom>
          <a:solidFill>
            <a:srgbClr val="00D47E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2359151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₦6,441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5472" y="2331720"/>
            <a:ext cx="2148840" cy="658368"/>
          </a:xfrm>
          <a:prstGeom prst="roundRect">
            <a:avLst/>
          </a:prstGeom>
          <a:solidFill>
            <a:srgbClr val="00D47E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32904" y="2359151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₦3,220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09176" y="2331720"/>
            <a:ext cx="2148840" cy="658368"/>
          </a:xfrm>
          <a:prstGeom prst="roundRect">
            <a:avLst/>
          </a:prstGeom>
          <a:solidFill>
            <a:srgbClr val="00D47E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36608" y="2359151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₦2,147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063239"/>
            <a:ext cx="2057400" cy="658368"/>
          </a:xfrm>
          <a:prstGeom prst="roundRect">
            <a:avLst/>
          </a:prstGeom>
          <a:solidFill>
            <a:srgbClr val="C9A961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090671"/>
            <a:ext cx="200253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₦10,000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98064" y="3063239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25496" y="3090671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₦36,498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01768" y="3063239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3090671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₦12,345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05472" y="3063239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32904" y="3090671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₦5,904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09176" y="3063239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36608" y="3090671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₦4,294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794760"/>
            <a:ext cx="2057400" cy="658368"/>
          </a:xfrm>
          <a:prstGeom prst="roundRect">
            <a:avLst/>
          </a:prstGeom>
          <a:solidFill>
            <a:srgbClr val="C9A961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3822192"/>
            <a:ext cx="200253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₦25,000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98064" y="3794760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25496" y="3822192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₦90,708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01768" y="3794760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0" y="3822192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₦30,594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05472" y="3794760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32904" y="3822192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₦14,492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09176" y="3794760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36608" y="3822192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₦9,661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526279"/>
            <a:ext cx="2057400" cy="658368"/>
          </a:xfrm>
          <a:prstGeom prst="roundRect">
            <a:avLst/>
          </a:prstGeom>
          <a:solidFill>
            <a:srgbClr val="C9A961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4553712"/>
            <a:ext cx="200253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₦50,000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98064" y="4526279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825496" y="4553712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₦181,416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01768" y="4526279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0" y="4553712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₦61,188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05472" y="4526279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232904" y="4553712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₦28,984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09176" y="4526279"/>
            <a:ext cx="2148840" cy="658368"/>
          </a:xfrm>
          <a:prstGeom prst="roundRect">
            <a:avLst/>
          </a:prstGeom>
          <a:solidFill>
            <a:srgbClr val="507DAA"/>
          </a:solidFill>
          <a:ln w="6350">
            <a:solidFill>
              <a:srgbClr val="3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436608" y="4553712"/>
            <a:ext cx="2093976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5F7FA"/>
                </a:solidFill>
                <a:latin typeface="Aptos"/>
              </a:rPr>
              <a:t>₦19,322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5623560"/>
            <a:ext cx="106070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8FA3B8"/>
                </a:solidFill>
                <a:latin typeface="Aptos"/>
              </a:rPr>
              <a:t>Lower capital  ◀  illustrative capital requirement  ▶  Higher capital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989320"/>
            <a:ext cx="1060704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0" i="1">
                <a:solidFill>
                  <a:srgbClr val="C9A961"/>
                </a:solidFill>
                <a:latin typeface="Georgia"/>
              </a:rPr>
              <a:t>Higher exit prices reduce the capital required for a target profit—but require a larger price move.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" y="6565392"/>
            <a:ext cx="7680960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0">
                <a:solidFill>
                  <a:srgbClr val="8FA3B8"/>
                </a:solidFill>
                <a:latin typeface="Aptos"/>
              </a:rPr>
              <a:t>Source: Scenario engine; verify all calculations against final cost assumptions.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6565392"/>
            <a:ext cx="3493008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0" i="0">
                <a:solidFill>
                  <a:srgbClr val="8FA3B8"/>
                </a:solidFill>
                <a:latin typeface="Aptos"/>
              </a:rPr>
              <a:t>EDUCATIONAL ANALYSIS ONLY • NOT INVESTMENT ADVICE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300" b="1" i="0">
                <a:solidFill>
                  <a:srgbClr val="F5F7FA"/>
                </a:solidFill>
                <a:latin typeface="Georgia"/>
              </a:rPr>
              <a:t>A STRUCTURAL INCENTIVE THAT REWARDS LONG-TERM 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743200" cy="713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Aptos"/>
              </a:rPr>
              <a:t>HOLDING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00200"/>
            <a:ext cx="4846320" cy="713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Aptos"/>
              </a:rPr>
              <a:t>REWARD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313432"/>
            <a:ext cx="758952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313432"/>
            <a:ext cx="2743200" cy="713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Aptos"/>
              </a:rPr>
              <a:t>1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13432"/>
            <a:ext cx="4846320" cy="713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Aptos"/>
              </a:rPr>
              <a:t>1 free bonus share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3026664"/>
            <a:ext cx="758952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026664"/>
            <a:ext cx="2743200" cy="713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Aptos"/>
              </a:rPr>
              <a:t>2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26664"/>
            <a:ext cx="4846320" cy="713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Aptos"/>
              </a:rPr>
              <a:t>2 free bonus shares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3739896"/>
            <a:ext cx="758952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739896"/>
            <a:ext cx="2743200" cy="713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C9A961"/>
                </a:solidFill>
                <a:latin typeface="Aptos"/>
              </a:rPr>
              <a:t>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39896"/>
            <a:ext cx="4846320" cy="713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Aptos"/>
              </a:rPr>
              <a:t>Maximum 2 bonus shares per investor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057400"/>
            <a:ext cx="1371600" cy="1234440"/>
          </a:xfrm>
          <a:prstGeom prst="roundRect">
            <a:avLst/>
          </a:prstGeom>
          <a:solidFill>
            <a:srgbClr val="1A1F26"/>
          </a:solidFill>
          <a:ln w="1778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1828800" cy="320040"/>
          </a:xfrm>
          <a:prstGeom prst="roundRect">
            <a:avLst/>
          </a:prstGeom>
          <a:solidFill>
            <a:srgbClr val="1A1F26"/>
          </a:solidFill>
          <a:ln w="1778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012680" y="1828800"/>
            <a:ext cx="0" cy="1463040"/>
          </a:xfrm>
          <a:prstGeom prst="line">
            <a:avLst/>
          </a:prstGeom>
          <a:ln w="2540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9464040" y="1417320"/>
            <a:ext cx="548640" cy="411480"/>
          </a:xfrm>
          <a:prstGeom prst="line">
            <a:avLst/>
          </a:prstGeom>
          <a:ln w="2540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012680" y="1417320"/>
            <a:ext cx="548640" cy="411480"/>
          </a:xfrm>
          <a:prstGeom prst="line">
            <a:avLst/>
          </a:prstGeom>
          <a:ln w="2540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4360" y="4663440"/>
            <a:ext cx="10972800" cy="9144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4663440"/>
            <a:ext cx="82296" cy="914400"/>
          </a:xfrm>
          <a:prstGeom prst="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818888"/>
            <a:ext cx="102870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0" i="1">
                <a:solidFill>
                  <a:srgbClr val="F5F7FA"/>
                </a:solidFill>
                <a:latin typeface="Georgia"/>
              </a:rPr>
              <a:t>“A 10-share position held for two years becomes 30 shares — before any price movement.”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565392"/>
            <a:ext cx="7680960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0">
                <a:solidFill>
                  <a:srgbClr val="8FA3B8"/>
                </a:solidFill>
                <a:latin typeface="Aptos"/>
              </a:rPr>
              <a:t>Source: IPO Prospectus (Retail Bonus Share Scheme).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565392"/>
            <a:ext cx="3493008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0" i="0">
                <a:solidFill>
                  <a:srgbClr val="8FA3B8"/>
                </a:solidFill>
                <a:latin typeface="Aptos"/>
              </a:rPr>
              <a:t>EDUCATIONAL ANALYSIS ONLY • NOT INVESTMENT ADVICE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100" b="1" i="0">
                <a:solidFill>
                  <a:srgbClr val="F5F7FA"/>
                </a:solidFill>
                <a:latin typeface="Georgia"/>
              </a:rPr>
              <a:t>SIX RISK CATEGORIES, 58 DISCLOSED RISKS. ONE HAS A KNOWN 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60020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C9A961"/>
                </a:solidFill>
                <a:latin typeface="Aptos"/>
              </a:rPr>
              <a:t>TAX CLIFF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417320"/>
            <a:ext cx="507492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Full exemption ends 1 January 2028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1993392"/>
            <a:ext cx="667512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1993392"/>
            <a:ext cx="160020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C9A961"/>
                </a:solidFill>
                <a:latin typeface="Aptos"/>
              </a:rPr>
              <a:t>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993392"/>
            <a:ext cx="507492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Single-site; ramp-up; captive power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2569464"/>
            <a:ext cx="667512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2569464"/>
            <a:ext cx="160020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C9A961"/>
                </a:solidFill>
                <a:latin typeface="Aptos"/>
              </a:rPr>
              <a:t>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569464"/>
            <a:ext cx="507492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Crack spread volatility; global cycles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3145536"/>
            <a:ext cx="667512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145536"/>
            <a:ext cx="160020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C9A961"/>
                </a:solidFill>
                <a:latin typeface="Aptos"/>
              </a:rPr>
              <a:t>FINANCIAL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145536"/>
            <a:ext cx="507492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Debt covenants; FX; counterparty credit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3721608"/>
            <a:ext cx="667512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3721608"/>
            <a:ext cx="160020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C9A961"/>
                </a:solidFill>
                <a:latin typeface="Aptos"/>
              </a:rPr>
              <a:t>REGULATORY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721608"/>
            <a:ext cx="507492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Free zone; licence renewals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4297680"/>
            <a:ext cx="6675120" cy="0"/>
          </a:xfrm>
          <a:prstGeom prst="line">
            <a:avLst/>
          </a:prstGeom>
          <a:ln w="7620">
            <a:solidFill>
              <a:srgbClr val="3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4297680"/>
            <a:ext cx="160020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C9A961"/>
                </a:solidFill>
                <a:latin typeface="Aptos"/>
              </a:rPr>
              <a:t>COUNTRY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297680"/>
            <a:ext cx="5074920" cy="5760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Aptos"/>
              </a:rPr>
              <a:t>Security; inflation; infrastructure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417320"/>
            <a:ext cx="3886200" cy="443484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1691640"/>
            <a:ext cx="333756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C9A961"/>
                </a:solidFill>
                <a:latin typeface="Aptos"/>
              </a:rPr>
              <a:t>THE TAX CLIFF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240280"/>
            <a:ext cx="3246120" cy="12344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0" i="0">
                <a:solidFill>
                  <a:srgbClr val="F5F7FA"/>
                </a:solidFill>
                <a:latin typeface="Aptos"/>
              </a:rPr>
              <a:t>From January 2028, domestic sales above 25% become fully taxable.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794760"/>
            <a:ext cx="3246120" cy="1371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0" i="1">
                <a:solidFill>
                  <a:srgbClr val="C9A961"/>
                </a:solidFill>
                <a:latin typeface="Georgia"/>
              </a:rPr>
              <a:t>This could reduce PAT by 10–15% and push the effective P/E from 13x toward 15x.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6565392"/>
            <a:ext cx="7680960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0">
                <a:solidFill>
                  <a:srgbClr val="8FA3B8"/>
                </a:solidFill>
                <a:latin typeface="Aptos"/>
              </a:rPr>
              <a:t>Source: IPO Prospectus, pp. 89, 134–155. Confirm interpretation with prospectus wording.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565392"/>
            <a:ext cx="3493008" cy="1463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0" i="0">
                <a:solidFill>
                  <a:srgbClr val="8FA3B8"/>
                </a:solidFill>
                <a:latin typeface="Aptos"/>
              </a:rPr>
              <a:t>EDUCATIONAL ANALYSIS ONLY • NOT INVESTMENT ADVICE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4630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C9A961"/>
                </a:solidFill>
                <a:latin typeface="Georgia"/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"/>
            <a:ext cx="8138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C9A961"/>
                </a:solidFill>
                <a:latin typeface="Georgia"/>
              </a:rPr>
              <a:t>DANGOTE REFINERY IPO —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18872"/>
            <a:ext cx="23774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Aptos"/>
              </a:rPr>
              <a:t>CHUKWUKA ODEY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411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600" b="1" i="0">
                <a:solidFill>
                  <a:srgbClr val="C9A961"/>
                </a:solidFill>
                <a:latin typeface="Georgia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521207"/>
            <a:ext cx="11430000" cy="0"/>
          </a:xfrm>
          <a:prstGeom prst="line">
            <a:avLst/>
          </a:prstGeom>
          <a:ln w="1143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960120"/>
            <a:ext cx="10835640" cy="2880360"/>
          </a:xfrm>
          <a:prstGeom prst="roundRect">
            <a:avLst/>
          </a:prstGeom>
          <a:solidFill>
            <a:srgbClr val="1A1F26"/>
          </a:solidFill>
          <a:ln w="1524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298448"/>
            <a:ext cx="1001268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0" i="1">
                <a:solidFill>
                  <a:srgbClr val="F5F7FA"/>
                </a:solidFill>
                <a:latin typeface="Georgia"/>
              </a:rPr>
              <a:t>“The refinery swung from a ₦2.23tn loss to a ₦2.50tn profit in 18 months.”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93392"/>
            <a:ext cx="1001268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0" i="1">
                <a:solidFill>
                  <a:srgbClr val="F5F7FA"/>
                </a:solidFill>
                <a:latin typeface="Georgia"/>
              </a:rPr>
              <a:t>“Yet Dangote trades at a 95.9% premium to global refiners.”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1001268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0" i="1">
                <a:solidFill>
                  <a:srgbClr val="C9A961"/>
                </a:solidFill>
                <a:latin typeface="Georgia"/>
              </a:rPr>
              <a:t>“GTI says ₦493 — fully valued. CardinalStone says ₦688 — +31%.”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103327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5F7FA"/>
                </a:solidFill>
                <a:latin typeface="Georgia"/>
              </a:rPr>
              <a:t>Two credible views. One decision — yours.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645152"/>
            <a:ext cx="85039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Georgia"/>
              </a:rPr>
              <a:t>Prepared by Chukwuka Odey  |  linkedin.com/in/chukwuka-odey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937760"/>
            <a:ext cx="85039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Georgia"/>
              </a:rPr>
              <a:t>chukwukaodey@gmail.com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804672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8FA3B8"/>
                </a:solidFill>
                <a:latin typeface="Aptos"/>
              </a:rPr>
              <a:t>Sources: IPO Prospectus (7 Sept 2026); GTI Research; CardinalStone Research; Businessday peer analysis; NGX transaction-cost schedule.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669280"/>
            <a:ext cx="3017520" cy="5303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800" b="0" i="0">
                <a:solidFill>
                  <a:srgbClr val="8FA3B8"/>
                </a:solidFill>
                <a:latin typeface="Aptos"/>
              </a:rPr>
              <a:t>Educational analysis only.
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1155</Words>
  <Application>Microsoft Office PowerPoint</Application>
  <PresentationFormat>Widescreen</PresentationFormat>
  <Paragraphs>228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Chukwuka</cp:lastModifiedBy>
  <cp:revision>2</cp:revision>
  <dcterms:created xsi:type="dcterms:W3CDTF">2013-01-27T09:14:16Z</dcterms:created>
  <dcterms:modified xsi:type="dcterms:W3CDTF">2026-09-21T09:16:25Z</dcterms:modified>
  <cp:category/>
</cp:coreProperties>
</file>